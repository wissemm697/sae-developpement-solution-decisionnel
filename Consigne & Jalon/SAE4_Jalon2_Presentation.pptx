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5" r:id="rId7"/>
    <p:sldId id="262" r:id="rId8"/>
    <p:sldId id="266" r:id="rId9"/>
    <p:sldId id="263" r:id="rId10"/>
    <p:sldId id="267" r:id="rId11"/>
    <p:sldId id="268" r:id="rId12"/>
    <p:sldId id="269" r:id="rId13"/>
    <p:sldId id="270" r:id="rId14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DC2ACB-3880-41DE-A2F8-4A2BE453D900}">
  <a:tblStyle styleId="{47DC2ACB-3880-41DE-A2F8-4A2BE453D9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2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2F4C8437-5C1E-27D2-EEB9-A9AA7681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>
            <a:extLst>
              <a:ext uri="{FF2B5EF4-FFF2-40B4-BE49-F238E27FC236}">
                <a16:creationId xmlns:a16="http://schemas.microsoft.com/office/drawing/2014/main" id="{3DEE1B64-8F21-87CD-C4DC-30B7E5795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6:notes">
            <a:extLst>
              <a:ext uri="{FF2B5EF4-FFF2-40B4-BE49-F238E27FC236}">
                <a16:creationId xmlns:a16="http://schemas.microsoft.com/office/drawing/2014/main" id="{A13D24FC-3E69-DB63-8AAF-D4119E0B9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6E4BB672-613E-648D-56A0-44CA42F010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3217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FFA7280D-F142-FD8E-56BA-8D18C9EFD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>
            <a:extLst>
              <a:ext uri="{FF2B5EF4-FFF2-40B4-BE49-F238E27FC236}">
                <a16:creationId xmlns:a16="http://schemas.microsoft.com/office/drawing/2014/main" id="{193560AF-E54F-CC7B-C3CA-FC7DEA05FD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>
            <a:extLst>
              <a:ext uri="{FF2B5EF4-FFF2-40B4-BE49-F238E27FC236}">
                <a16:creationId xmlns:a16="http://schemas.microsoft.com/office/drawing/2014/main" id="{E279C45E-A718-3F88-79D4-65668166F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7F500320-953A-0C2C-F5D3-7D19B7CC17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8484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AC7BCA8F-8C4B-D4B4-2B83-51C25A07F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>
            <a:extLst>
              <a:ext uri="{FF2B5EF4-FFF2-40B4-BE49-F238E27FC236}">
                <a16:creationId xmlns:a16="http://schemas.microsoft.com/office/drawing/2014/main" id="{BC1A45DC-9C9C-749B-3335-8983DD97C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8:notes">
            <a:extLst>
              <a:ext uri="{FF2B5EF4-FFF2-40B4-BE49-F238E27FC236}">
                <a16:creationId xmlns:a16="http://schemas.microsoft.com/office/drawing/2014/main" id="{A6E997FA-B677-2414-7DD4-9A303BDF3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>
            <a:extLst>
              <a:ext uri="{FF2B5EF4-FFF2-40B4-BE49-F238E27FC236}">
                <a16:creationId xmlns:a16="http://schemas.microsoft.com/office/drawing/2014/main" id="{8DDC408D-3B2D-241D-8623-6961318F7E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140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211C2BCD-3C76-E308-C08B-A15E14405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>
            <a:extLst>
              <a:ext uri="{FF2B5EF4-FFF2-40B4-BE49-F238E27FC236}">
                <a16:creationId xmlns:a16="http://schemas.microsoft.com/office/drawing/2014/main" id="{65189632-A366-9362-384C-41D9207161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8:notes">
            <a:extLst>
              <a:ext uri="{FF2B5EF4-FFF2-40B4-BE49-F238E27FC236}">
                <a16:creationId xmlns:a16="http://schemas.microsoft.com/office/drawing/2014/main" id="{1B0FD075-0511-59C9-2E30-4E877AC47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>
            <a:extLst>
              <a:ext uri="{FF2B5EF4-FFF2-40B4-BE49-F238E27FC236}">
                <a16:creationId xmlns:a16="http://schemas.microsoft.com/office/drawing/2014/main" id="{BE4648C5-BDAD-AC3A-8E72-E31F65D39E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265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7518DEB4-40D4-EB6C-CD49-A43CDAFE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>
            <a:extLst>
              <a:ext uri="{FF2B5EF4-FFF2-40B4-BE49-F238E27FC236}">
                <a16:creationId xmlns:a16="http://schemas.microsoft.com/office/drawing/2014/main" id="{894A17EA-1DE3-7E13-C6AE-0E5E91CEA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8:notes">
            <a:extLst>
              <a:ext uri="{FF2B5EF4-FFF2-40B4-BE49-F238E27FC236}">
                <a16:creationId xmlns:a16="http://schemas.microsoft.com/office/drawing/2014/main" id="{E47037DB-65B1-559E-7F01-C4B702713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>
            <a:extLst>
              <a:ext uri="{FF2B5EF4-FFF2-40B4-BE49-F238E27FC236}">
                <a16:creationId xmlns:a16="http://schemas.microsoft.com/office/drawing/2014/main" id="{42837829-577B-11E8-5E63-2261F61964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308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686800" y="0"/>
            <a:ext cx="91440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31520" y="8229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IUT LUMIÈRE LYON 2  BUT SCIENCE DES DONNÉES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1234440"/>
            <a:ext cx="7315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31520" y="1508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SAÉ 4.VCOD.01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286000"/>
            <a:ext cx="91440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Développement d'un composant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d'une solution décisionnelle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4023360"/>
            <a:ext cx="4114800" cy="411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23;p3"/>
          <p:cNvSpPr/>
          <p:nvPr/>
        </p:nvSpPr>
        <p:spPr>
          <a:xfrm>
            <a:off x="777240" y="40233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JALON 2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" y="4617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r>
              <a:rPr lang="en-US" sz="13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et </a:t>
            </a: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visualisation</a:t>
            </a:r>
            <a:r>
              <a:rPr lang="en-US" sz="13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décisionnelle</a:t>
            </a:r>
            <a:r>
              <a:rPr lang="en-US" sz="13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du </a:t>
            </a: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secteur</a:t>
            </a:r>
            <a:r>
              <a:rPr lang="en-US" sz="13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EHPAD / ESLD / </a:t>
            </a: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Résidences</a:t>
            </a:r>
            <a:r>
              <a:rPr lang="en-US" sz="13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Autonomie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9052560" y="914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GROUPE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052560" y="123444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LAMOUCHI Wissem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MARRE Ewann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CHOUKI Myreim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BOUVIER Matéo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Ce que vous allez découvrir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85800" y="164592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783080" y="175564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965960" y="17190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Organisation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du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groupe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965960" y="2103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Membres, rôles et planning des tâches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85800" y="251460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783080" y="262432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965960" y="25877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enjeux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métiers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965960" y="29718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mandat et les questions à traiter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85800" y="338328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783080" y="349300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965960" y="345643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Difficultés rencontrées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965960" y="3840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Points de blocage identifiés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85800" y="42519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783080" y="436168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965960" y="432511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Moyens mis en place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96596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Méthodes et outils de contournement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85800" y="512064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783080" y="523036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965960" y="519379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700"/>
            </a:pPr>
            <a:r>
              <a:rPr lang="en-US" sz="1800" b="1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Fonctionnalités</a:t>
            </a:r>
            <a:r>
              <a:rPr lang="en-US" sz="18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Power BI</a:t>
            </a:r>
            <a:endParaRPr lang="en-US" sz="1800" dirty="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965960" y="5577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Maquette </a:t>
            </a:r>
            <a:r>
              <a:rPr lang="en-US" sz="1300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canva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6;p4">
            <a:extLst>
              <a:ext uri="{FF2B5EF4-FFF2-40B4-BE49-F238E27FC236}">
                <a16:creationId xmlns:a16="http://schemas.microsoft.com/office/drawing/2014/main" id="{D2FEF3B7-638B-1E12-9853-195A4B66DC0B}"/>
              </a:ext>
            </a:extLst>
          </p:cNvPr>
          <p:cNvSpPr/>
          <p:nvPr/>
        </p:nvSpPr>
        <p:spPr>
          <a:xfrm>
            <a:off x="6096000" y="164592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 dirty="0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7;p4">
            <a:extLst>
              <a:ext uri="{FF2B5EF4-FFF2-40B4-BE49-F238E27FC236}">
                <a16:creationId xmlns:a16="http://schemas.microsoft.com/office/drawing/2014/main" id="{FF26642A-469F-6742-3BF9-79BDF49FC782}"/>
              </a:ext>
            </a:extLst>
          </p:cNvPr>
          <p:cNvSpPr/>
          <p:nvPr/>
        </p:nvSpPr>
        <p:spPr>
          <a:xfrm>
            <a:off x="7193280" y="175564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8;p4">
            <a:extLst>
              <a:ext uri="{FF2B5EF4-FFF2-40B4-BE49-F238E27FC236}">
                <a16:creationId xmlns:a16="http://schemas.microsoft.com/office/drawing/2014/main" id="{43C08CF8-FB00-977A-B277-255F03C90AC2}"/>
              </a:ext>
            </a:extLst>
          </p:cNvPr>
          <p:cNvSpPr/>
          <p:nvPr/>
        </p:nvSpPr>
        <p:spPr>
          <a:xfrm>
            <a:off x="7376160" y="17190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800"/>
            </a:pPr>
            <a:r>
              <a:rPr lang="fr-FR" sz="1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Pistes d'amélioration</a:t>
            </a:r>
            <a:endParaRPr sz="1800" b="1" i="0" u="none" strike="noStrike" cap="none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5" name="Google Shape;39;p4">
            <a:extLst>
              <a:ext uri="{FF2B5EF4-FFF2-40B4-BE49-F238E27FC236}">
                <a16:creationId xmlns:a16="http://schemas.microsoft.com/office/drawing/2014/main" id="{BE217B4D-AE89-4406-0FF4-F73A1164A9CF}"/>
              </a:ext>
            </a:extLst>
          </p:cNvPr>
          <p:cNvSpPr/>
          <p:nvPr/>
        </p:nvSpPr>
        <p:spPr>
          <a:xfrm>
            <a:off x="7376160" y="210312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Potentiel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piste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d’améliorer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possible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40;p4">
            <a:extLst>
              <a:ext uri="{FF2B5EF4-FFF2-40B4-BE49-F238E27FC236}">
                <a16:creationId xmlns:a16="http://schemas.microsoft.com/office/drawing/2014/main" id="{61FBD7FF-53D5-4E78-6890-BFFD6D6E340C}"/>
              </a:ext>
            </a:extLst>
          </p:cNvPr>
          <p:cNvSpPr/>
          <p:nvPr/>
        </p:nvSpPr>
        <p:spPr>
          <a:xfrm>
            <a:off x="6096000" y="251460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41;p4">
            <a:extLst>
              <a:ext uri="{FF2B5EF4-FFF2-40B4-BE49-F238E27FC236}">
                <a16:creationId xmlns:a16="http://schemas.microsoft.com/office/drawing/2014/main" id="{F66143B6-3741-E584-5A98-AD6AAED270B5}"/>
              </a:ext>
            </a:extLst>
          </p:cNvPr>
          <p:cNvSpPr/>
          <p:nvPr/>
        </p:nvSpPr>
        <p:spPr>
          <a:xfrm>
            <a:off x="7193280" y="262432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42;p4">
            <a:extLst>
              <a:ext uri="{FF2B5EF4-FFF2-40B4-BE49-F238E27FC236}">
                <a16:creationId xmlns:a16="http://schemas.microsoft.com/office/drawing/2014/main" id="{739D23AD-8817-B382-1520-F2B26935F31B}"/>
              </a:ext>
            </a:extLst>
          </p:cNvPr>
          <p:cNvSpPr/>
          <p:nvPr/>
        </p:nvSpPr>
        <p:spPr>
          <a:xfrm>
            <a:off x="7376160" y="25877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enjeux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métiers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43;p4">
            <a:extLst>
              <a:ext uri="{FF2B5EF4-FFF2-40B4-BE49-F238E27FC236}">
                <a16:creationId xmlns:a16="http://schemas.microsoft.com/office/drawing/2014/main" id="{3868E544-75EC-90C1-AF41-08A6ED09862B}"/>
              </a:ext>
            </a:extLst>
          </p:cNvPr>
          <p:cNvSpPr/>
          <p:nvPr/>
        </p:nvSpPr>
        <p:spPr>
          <a:xfrm>
            <a:off x="7376160" y="2971800"/>
            <a:ext cx="291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mandat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et les questions à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traiter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44;p4">
            <a:extLst>
              <a:ext uri="{FF2B5EF4-FFF2-40B4-BE49-F238E27FC236}">
                <a16:creationId xmlns:a16="http://schemas.microsoft.com/office/drawing/2014/main" id="{8BFC781D-0E8C-06A1-5BB0-B8606DA88DDC}"/>
              </a:ext>
            </a:extLst>
          </p:cNvPr>
          <p:cNvSpPr/>
          <p:nvPr/>
        </p:nvSpPr>
        <p:spPr>
          <a:xfrm>
            <a:off x="6096000" y="338328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45;p4">
            <a:extLst>
              <a:ext uri="{FF2B5EF4-FFF2-40B4-BE49-F238E27FC236}">
                <a16:creationId xmlns:a16="http://schemas.microsoft.com/office/drawing/2014/main" id="{BF887438-D34E-A44F-9AF5-E16FE3711A0A}"/>
              </a:ext>
            </a:extLst>
          </p:cNvPr>
          <p:cNvSpPr/>
          <p:nvPr/>
        </p:nvSpPr>
        <p:spPr>
          <a:xfrm>
            <a:off x="7193280" y="349300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46;p4">
            <a:extLst>
              <a:ext uri="{FF2B5EF4-FFF2-40B4-BE49-F238E27FC236}">
                <a16:creationId xmlns:a16="http://schemas.microsoft.com/office/drawing/2014/main" id="{781FDD37-00B7-54F1-19FC-1E969D29BF17}"/>
              </a:ext>
            </a:extLst>
          </p:cNvPr>
          <p:cNvSpPr/>
          <p:nvPr/>
        </p:nvSpPr>
        <p:spPr>
          <a:xfrm>
            <a:off x="7376160" y="3456432"/>
            <a:ext cx="3093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Difficultés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rencontrées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47;p4">
            <a:extLst>
              <a:ext uri="{FF2B5EF4-FFF2-40B4-BE49-F238E27FC236}">
                <a16:creationId xmlns:a16="http://schemas.microsoft.com/office/drawing/2014/main" id="{97364A7C-5AC8-8F4E-EF71-E4714F7FE6EB}"/>
              </a:ext>
            </a:extLst>
          </p:cNvPr>
          <p:cNvSpPr/>
          <p:nvPr/>
        </p:nvSpPr>
        <p:spPr>
          <a:xfrm>
            <a:off x="7376160" y="3840480"/>
            <a:ext cx="240514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Points de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blocage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identifiés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48;p4">
            <a:extLst>
              <a:ext uri="{FF2B5EF4-FFF2-40B4-BE49-F238E27FC236}">
                <a16:creationId xmlns:a16="http://schemas.microsoft.com/office/drawing/2014/main" id="{53612C14-AF11-142D-2E60-FF1E0C763D32}"/>
              </a:ext>
            </a:extLst>
          </p:cNvPr>
          <p:cNvSpPr/>
          <p:nvPr/>
        </p:nvSpPr>
        <p:spPr>
          <a:xfrm>
            <a:off x="6096000" y="42519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49;p4">
            <a:extLst>
              <a:ext uri="{FF2B5EF4-FFF2-40B4-BE49-F238E27FC236}">
                <a16:creationId xmlns:a16="http://schemas.microsoft.com/office/drawing/2014/main" id="{1216DB97-9913-26C3-4534-D36E7D07D10E}"/>
              </a:ext>
            </a:extLst>
          </p:cNvPr>
          <p:cNvSpPr/>
          <p:nvPr/>
        </p:nvSpPr>
        <p:spPr>
          <a:xfrm>
            <a:off x="7193280" y="436168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50;p4">
            <a:extLst>
              <a:ext uri="{FF2B5EF4-FFF2-40B4-BE49-F238E27FC236}">
                <a16:creationId xmlns:a16="http://schemas.microsoft.com/office/drawing/2014/main" id="{B5B9C68C-21B5-A246-514B-3BDEF9C73CC7}"/>
              </a:ext>
            </a:extLst>
          </p:cNvPr>
          <p:cNvSpPr/>
          <p:nvPr/>
        </p:nvSpPr>
        <p:spPr>
          <a:xfrm>
            <a:off x="7376160" y="4325112"/>
            <a:ext cx="29839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Moyens mis en place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51;p4">
            <a:extLst>
              <a:ext uri="{FF2B5EF4-FFF2-40B4-BE49-F238E27FC236}">
                <a16:creationId xmlns:a16="http://schemas.microsoft.com/office/drawing/2014/main" id="{68251C0C-D688-72D5-2715-9701A9E6365D}"/>
              </a:ext>
            </a:extLst>
          </p:cNvPr>
          <p:cNvSpPr/>
          <p:nvPr/>
        </p:nvSpPr>
        <p:spPr>
          <a:xfrm>
            <a:off x="7376160" y="470916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Méthodes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et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outils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contournement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52;p4">
            <a:extLst>
              <a:ext uri="{FF2B5EF4-FFF2-40B4-BE49-F238E27FC236}">
                <a16:creationId xmlns:a16="http://schemas.microsoft.com/office/drawing/2014/main" id="{BAA71008-723C-A077-A1BD-8110048E7BCD}"/>
              </a:ext>
            </a:extLst>
          </p:cNvPr>
          <p:cNvSpPr/>
          <p:nvPr/>
        </p:nvSpPr>
        <p:spPr>
          <a:xfrm>
            <a:off x="6096000" y="512064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53;p4">
            <a:extLst>
              <a:ext uri="{FF2B5EF4-FFF2-40B4-BE49-F238E27FC236}">
                <a16:creationId xmlns:a16="http://schemas.microsoft.com/office/drawing/2014/main" id="{424FAA6F-27B1-6FB8-9F93-52C00D00DF2B}"/>
              </a:ext>
            </a:extLst>
          </p:cNvPr>
          <p:cNvSpPr/>
          <p:nvPr/>
        </p:nvSpPr>
        <p:spPr>
          <a:xfrm>
            <a:off x="7193280" y="523036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54;p4">
            <a:extLst>
              <a:ext uri="{FF2B5EF4-FFF2-40B4-BE49-F238E27FC236}">
                <a16:creationId xmlns:a16="http://schemas.microsoft.com/office/drawing/2014/main" id="{B1D96DD1-23F8-93DC-D7D4-04CD2114F463}"/>
              </a:ext>
            </a:extLst>
          </p:cNvPr>
          <p:cNvSpPr/>
          <p:nvPr/>
        </p:nvSpPr>
        <p:spPr>
          <a:xfrm>
            <a:off x="7376160" y="519379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700"/>
            </a:pPr>
            <a:r>
              <a:rPr lang="en-US" sz="1800" b="1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Fonctionnalités</a:t>
            </a:r>
            <a:r>
              <a:rPr lang="en-US" sz="18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Power BI</a:t>
            </a:r>
            <a:endParaRPr lang="en-US" sz="1800" dirty="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55;p4">
            <a:extLst>
              <a:ext uri="{FF2B5EF4-FFF2-40B4-BE49-F238E27FC236}">
                <a16:creationId xmlns:a16="http://schemas.microsoft.com/office/drawing/2014/main" id="{9DDD8F45-C645-F78A-D8D5-9461C0BA3018}"/>
              </a:ext>
            </a:extLst>
          </p:cNvPr>
          <p:cNvSpPr/>
          <p:nvPr/>
        </p:nvSpPr>
        <p:spPr>
          <a:xfrm>
            <a:off x="7376160" y="5577840"/>
            <a:ext cx="267337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Vers la solution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décisionnelle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livrée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01 ORGANISATION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Rappel : composition du groupe et rôles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02920" y="1600200"/>
            <a:ext cx="5394960" cy="21488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02920" y="1600200"/>
            <a:ext cx="91440" cy="2148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LAMOUCHI Wissem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77240" y="2286000"/>
            <a:ext cx="2286000" cy="274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777240" y="235915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Chef de projet / Coordinateur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172200" y="1600200"/>
            <a:ext cx="5394960" cy="21488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172200" y="1600200"/>
            <a:ext cx="91440" cy="2148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MARRE Ewann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446520" y="2286000"/>
            <a:ext cx="2286000" cy="274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446520" y="235915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Ingénieur données / ETL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02920" y="4023360"/>
            <a:ext cx="5394960" cy="21488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02920" y="4023360"/>
            <a:ext cx="91440" cy="2148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777240" y="42519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CHOUKI Myreim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77240" y="4709160"/>
            <a:ext cx="2286000" cy="274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777240" y="478231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Modélisation &amp; Base de données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172200" y="4023360"/>
            <a:ext cx="5394960" cy="21488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172200" y="4023360"/>
            <a:ext cx="91440" cy="2148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446520" y="42519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BOUVIER Matéo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46520" y="4709160"/>
            <a:ext cx="2286000" cy="274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446520" y="478231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Data Visualisation / Power BI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02 CONTEXTE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Un secteur bouleversé et sous pression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85800" y="15544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C’est</a:t>
            </a:r>
            <a:r>
              <a:rPr lang="en-US" sz="16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quoi </a:t>
            </a:r>
            <a:r>
              <a:rPr lang="en-US" sz="16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cette</a:t>
            </a:r>
            <a:r>
              <a:rPr lang="en-US" sz="16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mission ?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85800" y="1920240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Notre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groupe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est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mandaté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par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société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spécialisée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dans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l'accompagnement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du grand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âge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et de la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dépendance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Calibri"/>
              <a:buNone/>
            </a:pPr>
            <a:r>
              <a:rPr lang="en-US" sz="6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modèle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économique des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établissements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accueillant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les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personnes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âgées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dépendantes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est remis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cause par :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85800" y="3108960"/>
            <a:ext cx="58521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0F172A"/>
              </a:buClr>
              <a:buSzPts val="1250"/>
              <a:buFont typeface="Calibri"/>
              <a:buChar char="•"/>
            </a:pPr>
            <a:r>
              <a:rPr lang="fr-FR" sz="1200" b="0" i="0" u="none" strike="noStrike" cap="none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Le covid : </a:t>
            </a: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Surmortalité dans les EHPADs, image très dégradée auprès du public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lvl="0" indent="-342900">
              <a:spcBef>
                <a:spcPts val="400"/>
              </a:spcBef>
              <a:buClr>
                <a:srgbClr val="0F172A"/>
              </a:buClr>
              <a:buSzPts val="1250"/>
              <a:buFont typeface="Calibri"/>
              <a:buChar char="•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livre « Les Fossoyeurs » : Révélation sur les conditions d’accueil et perte de confiance des familles</a:t>
            </a:r>
          </a:p>
          <a:p>
            <a:pPr marL="342900" lvl="0" indent="-342900">
              <a:spcBef>
                <a:spcPts val="400"/>
              </a:spcBef>
              <a:buClr>
                <a:srgbClr val="0F172A"/>
              </a:buClr>
              <a:buSzPts val="12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Inflation : </a:t>
            </a: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Hausse des coûts alimentaires et énergétiques → modèle économique fragilisé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85800" y="4846320"/>
            <a:ext cx="5943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lang="en-US" sz="1300" b="1" i="1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Objectif :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fournir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solution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décisionnelle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permettant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détecter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les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établissements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risque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concurrentiel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et les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localisations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fort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potentiel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déploiement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>
            <a:spLocks/>
          </p:cNvSpPr>
          <p:nvPr/>
        </p:nvSpPr>
        <p:spPr>
          <a:xfrm>
            <a:off x="6995160" y="1554480"/>
            <a:ext cx="4709160" cy="2148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269480" y="164592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8000"/>
              <a:buFont typeface="Georgia"/>
              <a:buNone/>
            </a:pPr>
            <a:r>
              <a:rPr lang="en-US" sz="8000" b="1" i="0" u="none" strike="noStrike" cap="none">
                <a:solidFill>
                  <a:srgbClr val="F96167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8549640" y="179120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TYPES D'ÉTABLISSEMENTS ANALYSÉS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915400" y="21488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995160" y="3840480"/>
            <a:ext cx="4709160" cy="21488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995160" y="3840480"/>
            <a:ext cx="470916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7269480" y="40690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3 SECTEURS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269480" y="4354267"/>
            <a:ext cx="18288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lang="en-US" sz="20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Public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lang="en-US" sz="20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Privé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lang="en-US" sz="20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Associatif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269480" y="493776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x/x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32489C-5543-60B5-87E0-5642A28F1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9640" y="2449574"/>
            <a:ext cx="291232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EHPAD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Hébergement pour personnes âgées dépendantes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ESLD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Établissement de soins de longue durée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Résidence Autonomie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02 ENJEUX MÉTIERS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Les 5 questions auxquelles répondre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02920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502920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77240" y="26517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Risque concurrentiel et démographique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77240" y="310896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Quels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établissements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sont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exposés à la pression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concurrentielle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et/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l'évolution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démographique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?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407408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407408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681728" y="192024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681728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681728" y="26517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Opportunités d'implantation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681728" y="310896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Quelles zones géographiques présentent un potentiel pour un nouveau déploiement 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311896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8311896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8586216" y="192024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8586216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586216" y="26517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Vision à moyen terme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586216" y="310896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Quelles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seront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les zones à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risque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et/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potentiel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moyen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terme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?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2455164" y="3950208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455164" y="3950208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2729484" y="4270248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729484" y="42702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729484" y="500176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Offre de prestations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729484" y="545896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Quelles prestations sont disponibles et comment se répartissent-elles selon les axes d'analyse 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359652" y="3950208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359652" y="3950208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633972" y="4270248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633972" y="42702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633972" y="500176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Pilotage du prix d'hébergement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633972" y="545896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Comment situer le prix d'un établissement par rapport à la concurrence et au bassin de population 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>
          <a:extLst>
            <a:ext uri="{FF2B5EF4-FFF2-40B4-BE49-F238E27FC236}">
              <a16:creationId xmlns:a16="http://schemas.microsoft.com/office/drawing/2014/main" id="{46C94CE2-1DB4-8786-DA0E-15B3521AF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>
            <a:extLst>
              <a:ext uri="{FF2B5EF4-FFF2-40B4-BE49-F238E27FC236}">
                <a16:creationId xmlns:a16="http://schemas.microsoft.com/office/drawing/2014/main" id="{B7C6BA85-C59B-5AFF-0EB8-3FCD157AD1EF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>
            <a:extLst>
              <a:ext uri="{FF2B5EF4-FFF2-40B4-BE49-F238E27FC236}">
                <a16:creationId xmlns:a16="http://schemas.microsoft.com/office/drawing/2014/main" id="{376BCE78-EFD4-652E-076B-0F7FC422E5B8}"/>
              </a:ext>
            </a:extLst>
          </p:cNvPr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02 ENJEUX MÉTIERS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>
            <a:extLst>
              <a:ext uri="{FF2B5EF4-FFF2-40B4-BE49-F238E27FC236}">
                <a16:creationId xmlns:a16="http://schemas.microsoft.com/office/drawing/2014/main" id="{2A29C909-F35F-394E-441B-4A6FAB75EF62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Les données à disposition pour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répondre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au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enjeux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métiers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>
            <a:extLst>
              <a:ext uri="{FF2B5EF4-FFF2-40B4-BE49-F238E27FC236}">
                <a16:creationId xmlns:a16="http://schemas.microsoft.com/office/drawing/2014/main" id="{967C66B1-C631-F7EC-CF43-DAC8A414271F}"/>
              </a:ext>
            </a:extLst>
          </p:cNvPr>
          <p:cNvSpPr/>
          <p:nvPr/>
        </p:nvSpPr>
        <p:spPr>
          <a:xfrm>
            <a:off x="502920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8">
            <a:extLst>
              <a:ext uri="{FF2B5EF4-FFF2-40B4-BE49-F238E27FC236}">
                <a16:creationId xmlns:a16="http://schemas.microsoft.com/office/drawing/2014/main" id="{5723C0D0-B9D6-AEEA-10E0-262264D3B1BF}"/>
              </a:ext>
            </a:extLst>
          </p:cNvPr>
          <p:cNvSpPr/>
          <p:nvPr/>
        </p:nvSpPr>
        <p:spPr>
          <a:xfrm>
            <a:off x="502920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">
            <a:extLst>
              <a:ext uri="{FF2B5EF4-FFF2-40B4-BE49-F238E27FC236}">
                <a16:creationId xmlns:a16="http://schemas.microsoft.com/office/drawing/2014/main" id="{893F9793-3B32-B6B2-45D3-38D10D77625B}"/>
              </a:ext>
            </a:extLst>
          </p:cNvPr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>
            <a:extLst>
              <a:ext uri="{FF2B5EF4-FFF2-40B4-BE49-F238E27FC236}">
                <a16:creationId xmlns:a16="http://schemas.microsoft.com/office/drawing/2014/main" id="{B272B25A-4BB8-1273-F1B0-D5C0FEE37796}"/>
              </a:ext>
            </a:extLst>
          </p:cNvPr>
          <p:cNvSpPr/>
          <p:nvPr/>
        </p:nvSpPr>
        <p:spPr>
          <a:xfrm>
            <a:off x="777240" y="244144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base-etablissements.csv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DA3C9B1C-754E-C64B-3FE4-FD1B81733766}"/>
              </a:ext>
            </a:extLst>
          </p:cNvPr>
          <p:cNvSpPr/>
          <p:nvPr/>
        </p:nvSpPr>
        <p:spPr>
          <a:xfrm>
            <a:off x="777240" y="289864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Tous les EHPAD de France : prix, capacité, statut, localisation </a:t>
            </a:r>
            <a:r>
              <a:rPr lang="fr-FR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97C44195-D59D-02D3-2300-0493DE111453}"/>
              </a:ext>
            </a:extLst>
          </p:cNvPr>
          <p:cNvSpPr/>
          <p:nvPr/>
        </p:nvSpPr>
        <p:spPr>
          <a:xfrm>
            <a:off x="4407408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68E50EB8-EBAF-3688-CD44-3ED1CB6D9FB2}"/>
              </a:ext>
            </a:extLst>
          </p:cNvPr>
          <p:cNvSpPr/>
          <p:nvPr/>
        </p:nvSpPr>
        <p:spPr>
          <a:xfrm>
            <a:off x="4407408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>
            <a:extLst>
              <a:ext uri="{FF2B5EF4-FFF2-40B4-BE49-F238E27FC236}">
                <a16:creationId xmlns:a16="http://schemas.microsoft.com/office/drawing/2014/main" id="{FB0F4E7A-FF38-4F62-5892-0F5166E9DC7D}"/>
              </a:ext>
            </a:extLst>
          </p:cNvPr>
          <p:cNvSpPr/>
          <p:nvPr/>
        </p:nvSpPr>
        <p:spPr>
          <a:xfrm>
            <a:off x="4681728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>
            <a:extLst>
              <a:ext uri="{FF2B5EF4-FFF2-40B4-BE49-F238E27FC236}">
                <a16:creationId xmlns:a16="http://schemas.microsoft.com/office/drawing/2014/main" id="{FE15397A-A56C-F91F-B788-BE0450AF06CB}"/>
              </a:ext>
            </a:extLst>
          </p:cNvPr>
          <p:cNvSpPr/>
          <p:nvPr/>
        </p:nvSpPr>
        <p:spPr>
          <a:xfrm>
            <a:off x="4681728" y="244144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age-insee-2020.xlsx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0" name="Google Shape;150;p8">
            <a:extLst>
              <a:ext uri="{FF2B5EF4-FFF2-40B4-BE49-F238E27FC236}">
                <a16:creationId xmlns:a16="http://schemas.microsoft.com/office/drawing/2014/main" id="{D65328DD-A0AA-AB9C-6D77-23AA5F6DB0AA}"/>
              </a:ext>
            </a:extLst>
          </p:cNvPr>
          <p:cNvSpPr/>
          <p:nvPr/>
        </p:nvSpPr>
        <p:spPr>
          <a:xfrm>
            <a:off x="4681728" y="2905009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 par tranche d'âge par commune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1" name="Google Shape;151;p8">
            <a:extLst>
              <a:ext uri="{FF2B5EF4-FFF2-40B4-BE49-F238E27FC236}">
                <a16:creationId xmlns:a16="http://schemas.microsoft.com/office/drawing/2014/main" id="{44E10CA4-C07A-015A-C9BB-63B53E516BED}"/>
              </a:ext>
            </a:extLst>
          </p:cNvPr>
          <p:cNvSpPr/>
          <p:nvPr/>
        </p:nvSpPr>
        <p:spPr>
          <a:xfrm>
            <a:off x="8311896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>
            <a:extLst>
              <a:ext uri="{FF2B5EF4-FFF2-40B4-BE49-F238E27FC236}">
                <a16:creationId xmlns:a16="http://schemas.microsoft.com/office/drawing/2014/main" id="{D741BD11-3D59-F146-F8F9-08834A9C0F96}"/>
              </a:ext>
            </a:extLst>
          </p:cNvPr>
          <p:cNvSpPr/>
          <p:nvPr/>
        </p:nvSpPr>
        <p:spPr>
          <a:xfrm>
            <a:off x="8311896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>
            <a:extLst>
              <a:ext uri="{FF2B5EF4-FFF2-40B4-BE49-F238E27FC236}">
                <a16:creationId xmlns:a16="http://schemas.microsoft.com/office/drawing/2014/main" id="{B6E7DF6F-CB6E-0F26-9E21-347EBEDA7DE1}"/>
              </a:ext>
            </a:extLst>
          </p:cNvPr>
          <p:cNvSpPr/>
          <p:nvPr/>
        </p:nvSpPr>
        <p:spPr>
          <a:xfrm>
            <a:off x="8586216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>
            <a:extLst>
              <a:ext uri="{FF2B5EF4-FFF2-40B4-BE49-F238E27FC236}">
                <a16:creationId xmlns:a16="http://schemas.microsoft.com/office/drawing/2014/main" id="{97374AD2-2669-88FF-4570-5D2C4D735F00}"/>
              </a:ext>
            </a:extLst>
          </p:cNvPr>
          <p:cNvSpPr/>
          <p:nvPr/>
        </p:nvSpPr>
        <p:spPr>
          <a:xfrm>
            <a:off x="8586216" y="247033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ircom_revenus_2021.xlsx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6" name="Google Shape;156;p8">
            <a:extLst>
              <a:ext uri="{FF2B5EF4-FFF2-40B4-BE49-F238E27FC236}">
                <a16:creationId xmlns:a16="http://schemas.microsoft.com/office/drawing/2014/main" id="{0628F68A-9022-A584-E732-917BDD207A26}"/>
              </a:ext>
            </a:extLst>
          </p:cNvPr>
          <p:cNvSpPr/>
          <p:nvPr/>
        </p:nvSpPr>
        <p:spPr>
          <a:xfrm>
            <a:off x="8586216" y="2905009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Revenus des habitants par commune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7" name="Google Shape;157;p8">
            <a:extLst>
              <a:ext uri="{FF2B5EF4-FFF2-40B4-BE49-F238E27FC236}">
                <a16:creationId xmlns:a16="http://schemas.microsoft.com/office/drawing/2014/main" id="{EDCC78C2-785F-F259-F80F-772046A10788}"/>
              </a:ext>
            </a:extLst>
          </p:cNvPr>
          <p:cNvSpPr/>
          <p:nvPr/>
        </p:nvSpPr>
        <p:spPr>
          <a:xfrm>
            <a:off x="512064" y="3967038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0A41E200-CE73-7034-D36D-7D8C5A45D15C}"/>
              </a:ext>
            </a:extLst>
          </p:cNvPr>
          <p:cNvSpPr/>
          <p:nvPr/>
        </p:nvSpPr>
        <p:spPr>
          <a:xfrm>
            <a:off x="512064" y="3930462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>
            <a:extLst>
              <a:ext uri="{FF2B5EF4-FFF2-40B4-BE49-F238E27FC236}">
                <a16:creationId xmlns:a16="http://schemas.microsoft.com/office/drawing/2014/main" id="{35BAB75A-C77D-60AB-522C-34C7F351E949}"/>
              </a:ext>
            </a:extLst>
          </p:cNvPr>
          <p:cNvSpPr/>
          <p:nvPr/>
        </p:nvSpPr>
        <p:spPr>
          <a:xfrm>
            <a:off x="777240" y="4108571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>
            <a:extLst>
              <a:ext uri="{FF2B5EF4-FFF2-40B4-BE49-F238E27FC236}">
                <a16:creationId xmlns:a16="http://schemas.microsoft.com/office/drawing/2014/main" id="{823F9F71-BC38-C190-2934-FA2D404588A3}"/>
              </a:ext>
            </a:extLst>
          </p:cNvPr>
          <p:cNvSpPr/>
          <p:nvPr/>
        </p:nvSpPr>
        <p:spPr>
          <a:xfrm>
            <a:off x="777240" y="4658669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donnees_communes.csv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62" name="Google Shape;162;p8">
            <a:extLst>
              <a:ext uri="{FF2B5EF4-FFF2-40B4-BE49-F238E27FC236}">
                <a16:creationId xmlns:a16="http://schemas.microsoft.com/office/drawing/2014/main" id="{17DF8237-E971-BB89-1261-6BBEE601F7AB}"/>
              </a:ext>
            </a:extLst>
          </p:cNvPr>
          <p:cNvSpPr/>
          <p:nvPr/>
        </p:nvSpPr>
        <p:spPr>
          <a:xfrm>
            <a:off x="777240" y="5079293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 totale par commune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63" name="Google Shape;163;p8">
            <a:extLst>
              <a:ext uri="{FF2B5EF4-FFF2-40B4-BE49-F238E27FC236}">
                <a16:creationId xmlns:a16="http://schemas.microsoft.com/office/drawing/2014/main" id="{4B7DCD43-BCF7-8517-0859-F0980C1CC74B}"/>
              </a:ext>
            </a:extLst>
          </p:cNvPr>
          <p:cNvSpPr/>
          <p:nvPr/>
        </p:nvSpPr>
        <p:spPr>
          <a:xfrm>
            <a:off x="4407408" y="3930462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>
            <a:extLst>
              <a:ext uri="{FF2B5EF4-FFF2-40B4-BE49-F238E27FC236}">
                <a16:creationId xmlns:a16="http://schemas.microsoft.com/office/drawing/2014/main" id="{C3CFB456-8975-AD31-E21F-7164D5A26DEF}"/>
              </a:ext>
            </a:extLst>
          </p:cNvPr>
          <p:cNvSpPr/>
          <p:nvPr/>
        </p:nvSpPr>
        <p:spPr>
          <a:xfrm>
            <a:off x="4407408" y="3930462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>
            <a:extLst>
              <a:ext uri="{FF2B5EF4-FFF2-40B4-BE49-F238E27FC236}">
                <a16:creationId xmlns:a16="http://schemas.microsoft.com/office/drawing/2014/main" id="{F351A6B0-F06B-5E03-AD89-B922EAB54DE5}"/>
              </a:ext>
            </a:extLst>
          </p:cNvPr>
          <p:cNvSpPr/>
          <p:nvPr/>
        </p:nvSpPr>
        <p:spPr>
          <a:xfrm>
            <a:off x="4681728" y="425050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>
            <a:extLst>
              <a:ext uri="{FF2B5EF4-FFF2-40B4-BE49-F238E27FC236}">
                <a16:creationId xmlns:a16="http://schemas.microsoft.com/office/drawing/2014/main" id="{EADB21A7-F1F1-6178-3DB2-5A120A3AE6DF}"/>
              </a:ext>
            </a:extLst>
          </p:cNvPr>
          <p:cNvSpPr/>
          <p:nvPr/>
        </p:nvSpPr>
        <p:spPr>
          <a:xfrm>
            <a:off x="4609903" y="4690673"/>
            <a:ext cx="3564833" cy="69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Référentiel Géographique INSEE</a:t>
            </a:r>
            <a:endParaRPr lang="en-US"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68" name="Google Shape;168;p8">
            <a:extLst>
              <a:ext uri="{FF2B5EF4-FFF2-40B4-BE49-F238E27FC236}">
                <a16:creationId xmlns:a16="http://schemas.microsoft.com/office/drawing/2014/main" id="{17D74AF7-DA24-5FE9-5C47-5FF634379878}"/>
              </a:ext>
            </a:extLst>
          </p:cNvPr>
          <p:cNvSpPr/>
          <p:nvPr/>
        </p:nvSpPr>
        <p:spPr>
          <a:xfrm>
            <a:off x="4609903" y="5347915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 géographique de la France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69" name="Google Shape;169;p8">
            <a:extLst>
              <a:ext uri="{FF2B5EF4-FFF2-40B4-BE49-F238E27FC236}">
                <a16:creationId xmlns:a16="http://schemas.microsoft.com/office/drawing/2014/main" id="{264466C5-0B6E-91C1-F62F-9CF2391AE18F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>
            <a:extLst>
              <a:ext uri="{FF2B5EF4-FFF2-40B4-BE49-F238E27FC236}">
                <a16:creationId xmlns:a16="http://schemas.microsoft.com/office/drawing/2014/main" id="{6A484017-8EA2-B081-A2F8-6BBEAF55078D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63;p8">
            <a:extLst>
              <a:ext uri="{FF2B5EF4-FFF2-40B4-BE49-F238E27FC236}">
                <a16:creationId xmlns:a16="http://schemas.microsoft.com/office/drawing/2014/main" id="{8538B1B2-ACED-59CD-5597-0F2C1B67BF3D}"/>
              </a:ext>
            </a:extLst>
          </p:cNvPr>
          <p:cNvSpPr/>
          <p:nvPr/>
        </p:nvSpPr>
        <p:spPr>
          <a:xfrm>
            <a:off x="8311896" y="3930462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64;p8">
            <a:extLst>
              <a:ext uri="{FF2B5EF4-FFF2-40B4-BE49-F238E27FC236}">
                <a16:creationId xmlns:a16="http://schemas.microsoft.com/office/drawing/2014/main" id="{BA321D7A-B5DE-918F-D36E-7315EA6EA3F0}"/>
              </a:ext>
            </a:extLst>
          </p:cNvPr>
          <p:cNvSpPr/>
          <p:nvPr/>
        </p:nvSpPr>
        <p:spPr>
          <a:xfrm>
            <a:off x="8311896" y="3930462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66;p8">
            <a:extLst>
              <a:ext uri="{FF2B5EF4-FFF2-40B4-BE49-F238E27FC236}">
                <a16:creationId xmlns:a16="http://schemas.microsoft.com/office/drawing/2014/main" id="{4DF06407-0552-2296-DBF9-847A71202BE1}"/>
              </a:ext>
            </a:extLst>
          </p:cNvPr>
          <p:cNvSpPr/>
          <p:nvPr/>
        </p:nvSpPr>
        <p:spPr>
          <a:xfrm>
            <a:off x="8586216" y="425050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67;p8">
            <a:extLst>
              <a:ext uri="{FF2B5EF4-FFF2-40B4-BE49-F238E27FC236}">
                <a16:creationId xmlns:a16="http://schemas.microsoft.com/office/drawing/2014/main" id="{80B5B4CD-BDBF-608D-68E8-5D7B0506843D}"/>
              </a:ext>
            </a:extLst>
          </p:cNvPr>
          <p:cNvSpPr/>
          <p:nvPr/>
        </p:nvSpPr>
        <p:spPr>
          <a:xfrm>
            <a:off x="8586216" y="4850693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Correspondance code commune / postal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7" name="Google Shape;168;p8">
            <a:extLst>
              <a:ext uri="{FF2B5EF4-FFF2-40B4-BE49-F238E27FC236}">
                <a16:creationId xmlns:a16="http://schemas.microsoft.com/office/drawing/2014/main" id="{2F455584-ED09-3D99-9D84-F7FF573D5E3E}"/>
              </a:ext>
            </a:extLst>
          </p:cNvPr>
          <p:cNvSpPr/>
          <p:nvPr/>
        </p:nvSpPr>
        <p:spPr>
          <a:xfrm>
            <a:off x="8586216" y="5359444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Lien entre code INSEE et code postal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099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03 DIFFICULTÉS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Principaux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points de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difficulté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identifiés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02920" y="150876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02920" y="1508760"/>
            <a:ext cx="91440" cy="2148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777240" y="176479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777240" y="17647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77240" y="21671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Hétérogénéité des clés géographiques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77240" y="2651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Les données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établissement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sont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liées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par code postal, les données INSEE (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revenus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population) par code commune. La relation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n'est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pas 1-1 :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plusieurs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codes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postaux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peuvent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partager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même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commune (ex. Le Havre).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172200" y="150876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6172200" y="1508760"/>
            <a:ext cx="91440" cy="2148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46520" y="176479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446520" y="17647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446520" y="21671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Multiplicité des sources à croiser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446520" y="2651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6 jeux de données différents : établissements, IRCOM revenus, âge INSEE, population communes, référentiel INSEE, correspondance codes. Chacun avec son propre format et ses propres pièges.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02920" y="388620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02920" y="3886200"/>
            <a:ext cx="91440" cy="2148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777240" y="414223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77240" y="41422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MÉTIER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777240" y="45445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Définition des axes d'analyse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777240" y="502920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Les axes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d'analyse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risque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potentiel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concurrence…) ne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sont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pas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donnés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ils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doivent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être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construits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de la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créativité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du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groupe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cohérence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avec les questions métier.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446520" y="41422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A72154D4-ED3C-AB26-BA42-ABD5687AE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>
            <a:extLst>
              <a:ext uri="{FF2B5EF4-FFF2-40B4-BE49-F238E27FC236}">
                <a16:creationId xmlns:a16="http://schemas.microsoft.com/office/drawing/2014/main" id="{8F436FD0-5D8B-F821-A8AC-10D2E25E3172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>
            <a:extLst>
              <a:ext uri="{FF2B5EF4-FFF2-40B4-BE49-F238E27FC236}">
                <a16:creationId xmlns:a16="http://schemas.microsoft.com/office/drawing/2014/main" id="{3F79A514-671F-BBD9-FCAF-C2F77959FC4A}"/>
              </a:ext>
            </a:extLst>
          </p:cNvPr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03 DIFFICULTÉS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>
            <a:extLst>
              <a:ext uri="{FF2B5EF4-FFF2-40B4-BE49-F238E27FC236}">
                <a16:creationId xmlns:a16="http://schemas.microsoft.com/office/drawing/2014/main" id="{4D0DC935-7FBB-417E-7255-31DC1DED3E88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solutions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>
            <a:extLst>
              <a:ext uri="{FF2B5EF4-FFF2-40B4-BE49-F238E27FC236}">
                <a16:creationId xmlns:a16="http://schemas.microsoft.com/office/drawing/2014/main" id="{3089DACF-CCE9-9288-7935-8FC4616751BE}"/>
              </a:ext>
            </a:extLst>
          </p:cNvPr>
          <p:cNvSpPr/>
          <p:nvPr/>
        </p:nvSpPr>
        <p:spPr>
          <a:xfrm>
            <a:off x="502920" y="150876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>
            <a:extLst>
              <a:ext uri="{FF2B5EF4-FFF2-40B4-BE49-F238E27FC236}">
                <a16:creationId xmlns:a16="http://schemas.microsoft.com/office/drawing/2014/main" id="{1DB1126F-E292-26A6-20B0-2A760B7CA7DA}"/>
              </a:ext>
            </a:extLst>
          </p:cNvPr>
          <p:cNvSpPr/>
          <p:nvPr/>
        </p:nvSpPr>
        <p:spPr>
          <a:xfrm>
            <a:off x="502920" y="1508760"/>
            <a:ext cx="91440" cy="21488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>
            <a:extLst>
              <a:ext uri="{FF2B5EF4-FFF2-40B4-BE49-F238E27FC236}">
                <a16:creationId xmlns:a16="http://schemas.microsoft.com/office/drawing/2014/main" id="{A2AD42DC-5EEA-A45B-62AC-DF5B1971F756}"/>
              </a:ext>
            </a:extLst>
          </p:cNvPr>
          <p:cNvSpPr/>
          <p:nvPr/>
        </p:nvSpPr>
        <p:spPr>
          <a:xfrm>
            <a:off x="777240" y="176479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>
            <a:extLst>
              <a:ext uri="{FF2B5EF4-FFF2-40B4-BE49-F238E27FC236}">
                <a16:creationId xmlns:a16="http://schemas.microsoft.com/office/drawing/2014/main" id="{4996FA1B-ED40-222A-92B2-20F96C292033}"/>
              </a:ext>
            </a:extLst>
          </p:cNvPr>
          <p:cNvSpPr/>
          <p:nvPr/>
        </p:nvSpPr>
        <p:spPr>
          <a:xfrm>
            <a:off x="777240" y="17647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>
            <a:extLst>
              <a:ext uri="{FF2B5EF4-FFF2-40B4-BE49-F238E27FC236}">
                <a16:creationId xmlns:a16="http://schemas.microsoft.com/office/drawing/2014/main" id="{BC4EC04D-0030-D00C-EF05-A4769CDD3501}"/>
              </a:ext>
            </a:extLst>
          </p:cNvPr>
          <p:cNvSpPr/>
          <p:nvPr/>
        </p:nvSpPr>
        <p:spPr>
          <a:xfrm>
            <a:off x="777240" y="21671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Hétérogénéité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des </a:t>
            </a: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clés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géographiques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?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>
            <a:extLst>
              <a:ext uri="{FF2B5EF4-FFF2-40B4-BE49-F238E27FC236}">
                <a16:creationId xmlns:a16="http://schemas.microsoft.com/office/drawing/2014/main" id="{B57AD3DC-8F04-07AC-E0E8-D7BB6D52A2F0}"/>
              </a:ext>
            </a:extLst>
          </p:cNvPr>
          <p:cNvSpPr/>
          <p:nvPr/>
        </p:nvSpPr>
        <p:spPr>
          <a:xfrm>
            <a:off x="777240" y="2651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20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 : utiliser le fichier de correspondance code commune / code postal pour faire le lien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86" name="Google Shape;186;p9">
            <a:extLst>
              <a:ext uri="{FF2B5EF4-FFF2-40B4-BE49-F238E27FC236}">
                <a16:creationId xmlns:a16="http://schemas.microsoft.com/office/drawing/2014/main" id="{89290556-DA8B-9D7F-2934-7011A4F074E4}"/>
              </a:ext>
            </a:extLst>
          </p:cNvPr>
          <p:cNvSpPr/>
          <p:nvPr/>
        </p:nvSpPr>
        <p:spPr>
          <a:xfrm>
            <a:off x="6172200" y="150876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>
            <a:extLst>
              <a:ext uri="{FF2B5EF4-FFF2-40B4-BE49-F238E27FC236}">
                <a16:creationId xmlns:a16="http://schemas.microsoft.com/office/drawing/2014/main" id="{D9F09FD1-8DF6-53BA-1C3F-3A705D17D24A}"/>
              </a:ext>
            </a:extLst>
          </p:cNvPr>
          <p:cNvSpPr/>
          <p:nvPr/>
        </p:nvSpPr>
        <p:spPr>
          <a:xfrm>
            <a:off x="6172200" y="1508760"/>
            <a:ext cx="91440" cy="21488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>
            <a:extLst>
              <a:ext uri="{FF2B5EF4-FFF2-40B4-BE49-F238E27FC236}">
                <a16:creationId xmlns:a16="http://schemas.microsoft.com/office/drawing/2014/main" id="{DB793F1A-1CBD-399A-D882-5E6D25DEEF4D}"/>
              </a:ext>
            </a:extLst>
          </p:cNvPr>
          <p:cNvSpPr/>
          <p:nvPr/>
        </p:nvSpPr>
        <p:spPr>
          <a:xfrm>
            <a:off x="6446520" y="176479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>
            <a:extLst>
              <a:ext uri="{FF2B5EF4-FFF2-40B4-BE49-F238E27FC236}">
                <a16:creationId xmlns:a16="http://schemas.microsoft.com/office/drawing/2014/main" id="{C614A305-DCD3-E595-ECBA-126E13E46DC6}"/>
              </a:ext>
            </a:extLst>
          </p:cNvPr>
          <p:cNvSpPr/>
          <p:nvPr/>
        </p:nvSpPr>
        <p:spPr>
          <a:xfrm>
            <a:off x="6446520" y="17647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>
            <a:extLst>
              <a:ext uri="{FF2B5EF4-FFF2-40B4-BE49-F238E27FC236}">
                <a16:creationId xmlns:a16="http://schemas.microsoft.com/office/drawing/2014/main" id="{C9806EE9-4B98-E5E4-3002-9B463D63D17E}"/>
              </a:ext>
            </a:extLst>
          </p:cNvPr>
          <p:cNvSpPr/>
          <p:nvPr/>
        </p:nvSpPr>
        <p:spPr>
          <a:xfrm>
            <a:off x="6446520" y="21671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Multiplicité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des sources à </a:t>
            </a: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croiser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?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>
            <a:extLst>
              <a:ext uri="{FF2B5EF4-FFF2-40B4-BE49-F238E27FC236}">
                <a16:creationId xmlns:a16="http://schemas.microsoft.com/office/drawing/2014/main" id="{1B6F6566-1337-E1A1-B0C6-1E8CE8CFA4B7}"/>
              </a:ext>
            </a:extLst>
          </p:cNvPr>
          <p:cNvSpPr/>
          <p:nvPr/>
        </p:nvSpPr>
        <p:spPr>
          <a:xfrm>
            <a:off x="6446520" y="2651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200"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</a:t>
            </a:r>
            <a:r>
              <a:rPr lang="fr-FR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olution</a:t>
            </a: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Pentaho</a:t>
            </a: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ETL pour nettoyer et standardiser chaque source avant de les assembler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2" name="Google Shape;192;p9">
            <a:extLst>
              <a:ext uri="{FF2B5EF4-FFF2-40B4-BE49-F238E27FC236}">
                <a16:creationId xmlns:a16="http://schemas.microsoft.com/office/drawing/2014/main" id="{AD7D3415-D6F5-D626-4C43-7D21A429B93B}"/>
              </a:ext>
            </a:extLst>
          </p:cNvPr>
          <p:cNvSpPr/>
          <p:nvPr/>
        </p:nvSpPr>
        <p:spPr>
          <a:xfrm>
            <a:off x="502920" y="388620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">
            <a:extLst>
              <a:ext uri="{FF2B5EF4-FFF2-40B4-BE49-F238E27FC236}">
                <a16:creationId xmlns:a16="http://schemas.microsoft.com/office/drawing/2014/main" id="{389A6BFF-0382-3292-6A3E-2B10478D3742}"/>
              </a:ext>
            </a:extLst>
          </p:cNvPr>
          <p:cNvSpPr/>
          <p:nvPr/>
        </p:nvSpPr>
        <p:spPr>
          <a:xfrm>
            <a:off x="502920" y="3886200"/>
            <a:ext cx="91440" cy="21488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>
            <a:extLst>
              <a:ext uri="{FF2B5EF4-FFF2-40B4-BE49-F238E27FC236}">
                <a16:creationId xmlns:a16="http://schemas.microsoft.com/office/drawing/2014/main" id="{CB59FA76-7D51-6F45-55C4-E11946590D4A}"/>
              </a:ext>
            </a:extLst>
          </p:cNvPr>
          <p:cNvSpPr/>
          <p:nvPr/>
        </p:nvSpPr>
        <p:spPr>
          <a:xfrm>
            <a:off x="777240" y="414223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>
            <a:extLst>
              <a:ext uri="{FF2B5EF4-FFF2-40B4-BE49-F238E27FC236}">
                <a16:creationId xmlns:a16="http://schemas.microsoft.com/office/drawing/2014/main" id="{30B440C4-7F2A-E1E1-6A04-D8EEBD075B4E}"/>
              </a:ext>
            </a:extLst>
          </p:cNvPr>
          <p:cNvSpPr/>
          <p:nvPr/>
        </p:nvSpPr>
        <p:spPr>
          <a:xfrm>
            <a:off x="777240" y="41422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MÉTIER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>
            <a:extLst>
              <a:ext uri="{FF2B5EF4-FFF2-40B4-BE49-F238E27FC236}">
                <a16:creationId xmlns:a16="http://schemas.microsoft.com/office/drawing/2014/main" id="{6B10692A-8A29-F2EC-72AA-C49C7117974B}"/>
              </a:ext>
            </a:extLst>
          </p:cNvPr>
          <p:cNvSpPr/>
          <p:nvPr/>
        </p:nvSpPr>
        <p:spPr>
          <a:xfrm>
            <a:off x="777240" y="45445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Définition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des axes </a:t>
            </a: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d'analyse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?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>
            <a:extLst>
              <a:ext uri="{FF2B5EF4-FFF2-40B4-BE49-F238E27FC236}">
                <a16:creationId xmlns:a16="http://schemas.microsoft.com/office/drawing/2014/main" id="{49C4E99F-9B47-1658-85DC-029C290FE3A6}"/>
              </a:ext>
            </a:extLst>
          </p:cNvPr>
          <p:cNvSpPr/>
          <p:nvPr/>
        </p:nvSpPr>
        <p:spPr>
          <a:xfrm>
            <a:off x="777240" y="5001768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20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 : s'appuyer sur les 5 questions métiers du client comme fil conducteur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1" name="Google Shape;201;p9">
            <a:extLst>
              <a:ext uri="{FF2B5EF4-FFF2-40B4-BE49-F238E27FC236}">
                <a16:creationId xmlns:a16="http://schemas.microsoft.com/office/drawing/2014/main" id="{1CB70E89-98EA-081D-3688-6986FAE28D40}"/>
              </a:ext>
            </a:extLst>
          </p:cNvPr>
          <p:cNvSpPr/>
          <p:nvPr/>
        </p:nvSpPr>
        <p:spPr>
          <a:xfrm>
            <a:off x="6446520" y="41422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>
            <a:extLst>
              <a:ext uri="{FF2B5EF4-FFF2-40B4-BE49-F238E27FC236}">
                <a16:creationId xmlns:a16="http://schemas.microsoft.com/office/drawing/2014/main" id="{055019C5-BD54-96E3-5B8C-F15D23483636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>
            <a:extLst>
              <a:ext uri="{FF2B5EF4-FFF2-40B4-BE49-F238E27FC236}">
                <a16:creationId xmlns:a16="http://schemas.microsoft.com/office/drawing/2014/main" id="{B60CFA61-E856-BAD5-DD68-6785BF059BFC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305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58368" y="502920"/>
            <a:ext cx="93858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96167"/>
              </a:buClr>
              <a:buSzPts val="1100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05 </a:t>
            </a:r>
            <a:r>
              <a:rPr lang="en-US" sz="12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Fonctionnalités</a:t>
            </a:r>
            <a:r>
              <a:rPr lang="en-US" sz="1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Power BI</a:t>
            </a:r>
            <a:endParaRPr lang="en-US" sz="1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endParaRPr sz="12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Maquette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canva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du Power Bi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SAÉ 4.VCOD.01  Jalon 2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E726074-C42E-018F-7849-C20291DEDBEF}"/>
              </a:ext>
            </a:extLst>
          </p:cNvPr>
          <p:cNvSpPr txBox="1"/>
          <p:nvPr/>
        </p:nvSpPr>
        <p:spPr>
          <a:xfrm>
            <a:off x="658368" y="1293876"/>
            <a:ext cx="715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Puisque nous n’avons pas les premières visualisations de notre power bi, voici une maquette de ce que peut potentiellement ressemblé notre futur </a:t>
            </a:r>
            <a:r>
              <a:rPr lang="fr-FR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https://canva.link/psn69lmme22ampy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9A38AB0-F29D-50E2-F00E-D75020E5C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8028"/>
            <a:ext cx="4708062" cy="352015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831C86C-165D-86E4-7214-379E8B3B4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248028"/>
            <a:ext cx="5026175" cy="37685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>
          <a:extLst>
            <a:ext uri="{FF2B5EF4-FFF2-40B4-BE49-F238E27FC236}">
              <a16:creationId xmlns:a16="http://schemas.microsoft.com/office/drawing/2014/main" id="{07D5320D-7CC8-F1D5-4611-287E6C835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>
            <a:extLst>
              <a:ext uri="{FF2B5EF4-FFF2-40B4-BE49-F238E27FC236}">
                <a16:creationId xmlns:a16="http://schemas.microsoft.com/office/drawing/2014/main" id="{3CDCB3A7-55BB-55BD-4D17-ED67A89CEF45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>
            <a:extLst>
              <a:ext uri="{FF2B5EF4-FFF2-40B4-BE49-F238E27FC236}">
                <a16:creationId xmlns:a16="http://schemas.microsoft.com/office/drawing/2014/main" id="{0D6BA965-BA97-55E0-71BC-FA88EC193F6F}"/>
              </a:ext>
            </a:extLst>
          </p:cNvPr>
          <p:cNvSpPr/>
          <p:nvPr/>
        </p:nvSpPr>
        <p:spPr>
          <a:xfrm>
            <a:off x="658368" y="502920"/>
            <a:ext cx="93858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96167"/>
              </a:buClr>
              <a:buSzPts val="1100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05 </a:t>
            </a:r>
            <a:r>
              <a:rPr lang="en-US" sz="12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Fonctionnalités</a:t>
            </a:r>
            <a:r>
              <a:rPr lang="en-US" sz="1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Power BI</a:t>
            </a:r>
            <a:endParaRPr lang="en-US" sz="1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endParaRPr sz="12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4" name="Google Shape;214;p10">
            <a:extLst>
              <a:ext uri="{FF2B5EF4-FFF2-40B4-BE49-F238E27FC236}">
                <a16:creationId xmlns:a16="http://schemas.microsoft.com/office/drawing/2014/main" id="{957FC7E9-BE3C-7AB1-C74A-321E14F37F7C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Maquette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canva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du Power Bi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>
            <a:extLst>
              <a:ext uri="{FF2B5EF4-FFF2-40B4-BE49-F238E27FC236}">
                <a16:creationId xmlns:a16="http://schemas.microsoft.com/office/drawing/2014/main" id="{3A2BAC23-E8CF-8259-1471-7BB04C2E5146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>
            <a:extLst>
              <a:ext uri="{FF2B5EF4-FFF2-40B4-BE49-F238E27FC236}">
                <a16:creationId xmlns:a16="http://schemas.microsoft.com/office/drawing/2014/main" id="{F758A6CC-5828-2351-1139-AC662382A7D7}"/>
              </a:ext>
            </a:extLst>
          </p:cNvPr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SAÉ 4.VCOD.01  Jalon 2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>
            <a:extLst>
              <a:ext uri="{FF2B5EF4-FFF2-40B4-BE49-F238E27FC236}">
                <a16:creationId xmlns:a16="http://schemas.microsoft.com/office/drawing/2014/main" id="{E5B9824D-4CF1-E28D-E575-63C89605461D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B6BA3E-0081-E820-5D7F-33A548C42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04" y="1798888"/>
            <a:ext cx="5390716" cy="408264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9C23214-68AD-8DD8-09BB-3BB9DFC46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267" y="1798888"/>
            <a:ext cx="5486401" cy="41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18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>
          <a:extLst>
            <a:ext uri="{FF2B5EF4-FFF2-40B4-BE49-F238E27FC236}">
              <a16:creationId xmlns:a16="http://schemas.microsoft.com/office/drawing/2014/main" id="{A12FFCFF-CE65-B3C3-DAFB-7DAB7F90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>
            <a:extLst>
              <a:ext uri="{FF2B5EF4-FFF2-40B4-BE49-F238E27FC236}">
                <a16:creationId xmlns:a16="http://schemas.microsoft.com/office/drawing/2014/main" id="{22DF12E2-EBA6-4144-60B0-6426B39EEF1A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>
            <a:extLst>
              <a:ext uri="{FF2B5EF4-FFF2-40B4-BE49-F238E27FC236}">
                <a16:creationId xmlns:a16="http://schemas.microsoft.com/office/drawing/2014/main" id="{16341D53-93EB-092D-9075-AD9AD34CABF4}"/>
              </a:ext>
            </a:extLst>
          </p:cNvPr>
          <p:cNvSpPr/>
          <p:nvPr/>
        </p:nvSpPr>
        <p:spPr>
          <a:xfrm>
            <a:off x="658368" y="502920"/>
            <a:ext cx="93858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96167"/>
              </a:buClr>
              <a:buSzPts val="1100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05 </a:t>
            </a:r>
            <a:r>
              <a:rPr lang="en-US" sz="12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Fonctionnalités</a:t>
            </a:r>
            <a:r>
              <a:rPr lang="en-US" sz="1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Power BI</a:t>
            </a:r>
            <a:endParaRPr lang="en-US" sz="1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endParaRPr sz="12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4" name="Google Shape;214;p10">
            <a:extLst>
              <a:ext uri="{FF2B5EF4-FFF2-40B4-BE49-F238E27FC236}">
                <a16:creationId xmlns:a16="http://schemas.microsoft.com/office/drawing/2014/main" id="{6C8F8518-2AEE-7525-39A8-2D9288E9BEFD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Maquette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canva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du Power Bi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>
            <a:extLst>
              <a:ext uri="{FF2B5EF4-FFF2-40B4-BE49-F238E27FC236}">
                <a16:creationId xmlns:a16="http://schemas.microsoft.com/office/drawing/2014/main" id="{CA6A7E3E-A7CD-5599-B9EA-C9EE59AD8B26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>
            <a:extLst>
              <a:ext uri="{FF2B5EF4-FFF2-40B4-BE49-F238E27FC236}">
                <a16:creationId xmlns:a16="http://schemas.microsoft.com/office/drawing/2014/main" id="{2A52996F-B69D-1138-83D7-8690805B0003}"/>
              </a:ext>
            </a:extLst>
          </p:cNvPr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SAÉ 4.VCOD.01  Jalon 2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>
            <a:extLst>
              <a:ext uri="{FF2B5EF4-FFF2-40B4-BE49-F238E27FC236}">
                <a16:creationId xmlns:a16="http://schemas.microsoft.com/office/drawing/2014/main" id="{BDB6F8D9-D4D5-8645-7F18-69EBEDEB7855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24E9BAF-4675-2431-BF02-ACF4B8568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05557"/>
            <a:ext cx="6182139" cy="463921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2A3150D-ADD4-8360-56E8-DE2D0607C879}"/>
              </a:ext>
            </a:extLst>
          </p:cNvPr>
          <p:cNvSpPr txBox="1"/>
          <p:nvPr/>
        </p:nvSpPr>
        <p:spPr>
          <a:xfrm>
            <a:off x="7348330" y="1505557"/>
            <a:ext cx="4061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Ceci n’est que la V1 de notre power bi, ils vont être notamment retravailler pour un rendu visuel plus agréables</a:t>
            </a:r>
          </a:p>
        </p:txBody>
      </p:sp>
    </p:spTree>
    <p:extLst>
      <p:ext uri="{BB962C8B-B14F-4D97-AF65-F5344CB8AC3E}">
        <p14:creationId xmlns:p14="http://schemas.microsoft.com/office/powerpoint/2010/main" val="51912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>
          <a:extLst>
            <a:ext uri="{FF2B5EF4-FFF2-40B4-BE49-F238E27FC236}">
              <a16:creationId xmlns:a16="http://schemas.microsoft.com/office/drawing/2014/main" id="{1EB6B360-7DBC-1DAF-7DF5-14D1F39C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>
            <a:extLst>
              <a:ext uri="{FF2B5EF4-FFF2-40B4-BE49-F238E27FC236}">
                <a16:creationId xmlns:a16="http://schemas.microsoft.com/office/drawing/2014/main" id="{09238E1F-C014-297A-F37A-773FAF458AA0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>
            <a:extLst>
              <a:ext uri="{FF2B5EF4-FFF2-40B4-BE49-F238E27FC236}">
                <a16:creationId xmlns:a16="http://schemas.microsoft.com/office/drawing/2014/main" id="{97E424D5-F9C6-4BFC-9B41-B414FC4B6507}"/>
              </a:ext>
            </a:extLst>
          </p:cNvPr>
          <p:cNvSpPr/>
          <p:nvPr/>
        </p:nvSpPr>
        <p:spPr>
          <a:xfrm>
            <a:off x="658368" y="502920"/>
            <a:ext cx="93858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96167"/>
              </a:buClr>
              <a:buSzPts val="1100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06 </a:t>
            </a:r>
            <a:r>
              <a:rPr lang="fr-FR" sz="1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Pistes d'amélioration</a:t>
            </a:r>
            <a:endParaRPr lang="en-US" sz="12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endParaRPr lang="en-US" sz="12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4" name="Google Shape;214;p10">
            <a:extLst>
              <a:ext uri="{FF2B5EF4-FFF2-40B4-BE49-F238E27FC236}">
                <a16:creationId xmlns:a16="http://schemas.microsoft.com/office/drawing/2014/main" id="{C2655619-55DD-40DC-0FB8-0909BD49E012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Potentiel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piste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d’amélioration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>
            <a:extLst>
              <a:ext uri="{FF2B5EF4-FFF2-40B4-BE49-F238E27FC236}">
                <a16:creationId xmlns:a16="http://schemas.microsoft.com/office/drawing/2014/main" id="{870D9573-590A-6D33-CD21-3C4663AF282C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>
            <a:extLst>
              <a:ext uri="{FF2B5EF4-FFF2-40B4-BE49-F238E27FC236}">
                <a16:creationId xmlns:a16="http://schemas.microsoft.com/office/drawing/2014/main" id="{32EF490B-D79D-A111-8B2D-F500F596EE62}"/>
              </a:ext>
            </a:extLst>
          </p:cNvPr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SAÉ 4.VCOD.01  Jalon 2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>
            <a:extLst>
              <a:ext uri="{FF2B5EF4-FFF2-40B4-BE49-F238E27FC236}">
                <a16:creationId xmlns:a16="http://schemas.microsoft.com/office/drawing/2014/main" id="{41B144A6-8A9C-55E3-3B5C-DAE923F68584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E2163E-CF14-4DA7-33A8-F19FB4B26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064" y="2704721"/>
            <a:ext cx="4284693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 de mortalité par commune → mieux estimer la demande future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Avis Google / familles sur les EHPAD → mesurer la réputation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Prix de l'immobilier par zone → estimer le coût d'ouverture d'un nouvel EHPAD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330E9D0-6E80-1F5F-CB5C-3D11105B5080}"/>
              </a:ext>
            </a:extLst>
          </p:cNvPr>
          <p:cNvSpPr txBox="1"/>
          <p:nvPr/>
        </p:nvSpPr>
        <p:spPr>
          <a:xfrm>
            <a:off x="512064" y="1924307"/>
            <a:ext cx="4394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 supplémentaires qu'on pourrait ajouter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FF8D84-6F15-8D11-E9A0-E77FE1256980}"/>
              </a:ext>
            </a:extLst>
          </p:cNvPr>
          <p:cNvSpPr/>
          <p:nvPr/>
        </p:nvSpPr>
        <p:spPr>
          <a:xfrm>
            <a:off x="344557" y="1730071"/>
            <a:ext cx="4757530" cy="30306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42858EE-3BA4-C6E8-012C-AB901A713723}"/>
              </a:ext>
            </a:extLst>
          </p:cNvPr>
          <p:cNvSpPr txBox="1"/>
          <p:nvPr/>
        </p:nvSpPr>
        <p:spPr>
          <a:xfrm>
            <a:off x="6726373" y="1935279"/>
            <a:ext cx="446949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Fonctionnalités qu'on pourrait ajouter :</a:t>
            </a:r>
          </a:p>
          <a:p>
            <a:pPr>
              <a:buNone/>
            </a:pPr>
            <a:endParaRPr lang="fr-F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Simulateur → "si j'ouvre un EHPAD ici, combien de clients potentiels 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Alertes automatiques → notifier quand un concurrent ouvre près d'un établissement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Comparateur → comparer 2 zones côte à côte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Évolution dans le temps → voir comment la concurrence a évolué sur 5 ans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2E9C2-BC55-18C4-8860-2E6E5E596063}"/>
              </a:ext>
            </a:extLst>
          </p:cNvPr>
          <p:cNvSpPr/>
          <p:nvPr/>
        </p:nvSpPr>
        <p:spPr>
          <a:xfrm>
            <a:off x="6217920" y="1730071"/>
            <a:ext cx="5413248" cy="30306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393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7467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954</Words>
  <Application>Microsoft Office PowerPoint</Application>
  <PresentationFormat>Grand écran</PresentationFormat>
  <Paragraphs>177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Lamouchi Wissem</cp:lastModifiedBy>
  <cp:revision>6</cp:revision>
  <dcterms:modified xsi:type="dcterms:W3CDTF">2026-04-22T21:05:49Z</dcterms:modified>
</cp:coreProperties>
</file>